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182880"/>
            <a:ext cx="1051560" cy="1051560"/>
          </a:xfrm>
          <a:prstGeom prst="ellipse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02920"/>
            <a:ext cx="292608" cy="292608"/>
          </a:xfrm>
          <a:prstGeom prst="ellipse">
            <a:avLst/>
          </a:prstGeom>
          <a:solidFill>
            <a:srgbClr val="DC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" y="6217920"/>
            <a:ext cx="685800" cy="685800"/>
          </a:xfrm>
          <a:prstGeom prst="ellipse">
            <a:avLst/>
          </a:prstGeom>
          <a:solidFill>
            <a:srgbClr val="EC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56032"/>
            <a:ext cx="960120" cy="27432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" y="256032"/>
            <a:ext cx="886968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63EB"/>
                </a:solidFill>
                <a:latin typeface="Noto Sans CJK SC"/>
              </a:rPr>
              <a:t>架构设计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7543800" cy="3931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172033"/>
                </a:solidFill>
                <a:latin typeface="Noto Sans CJK SC"/>
              </a:rPr>
              <a:t>Shared Runtime microVM：用户亲和映射池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768096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Noto Sans CJK SC"/>
              </a:rPr>
              <a:t>少量 Runtime ARN 承载多个 runtimeSessionId；按活跃并发扩缩，而不是按注册用户扩容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6196" y="306324"/>
            <a:ext cx="3291840" cy="804672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94192" y="256032"/>
            <a:ext cx="32918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347472"/>
            <a:ext cx="713232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Noto Sans CJK SC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658368"/>
            <a:ext cx="804672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67085"/>
                </a:solidFill>
                <a:latin typeface="Noto Sans CJK SC"/>
              </a:rPr>
              <a:t>Hard cap /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00032" y="420624"/>
            <a:ext cx="13716" cy="420624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347472"/>
            <a:ext cx="713232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9D8A"/>
                </a:solidFill>
                <a:latin typeface="Noto Sans CJK SC"/>
              </a:rPr>
              <a:t>6–7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328" y="658368"/>
            <a:ext cx="804672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67085"/>
                </a:solidFill>
                <a:latin typeface="Noto Sans CJK SC"/>
              </a:rPr>
              <a:t>Target inflight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87584" y="420624"/>
            <a:ext cx="13716" cy="420624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3888" y="347472"/>
            <a:ext cx="713232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C3AED"/>
                </a:solidFill>
                <a:latin typeface="Noto Sans CJK SC"/>
              </a:rPr>
              <a:t>≈8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88167" y="658368"/>
            <a:ext cx="804672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67085"/>
                </a:solidFill>
                <a:latin typeface="Noto Sans CJK SC"/>
              </a:rPr>
              <a:t>Active sessions*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" y="1467612"/>
            <a:ext cx="1719072" cy="340156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1417320"/>
            <a:ext cx="1719072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" y="1435608"/>
            <a:ext cx="1682495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1600200"/>
            <a:ext cx="1325880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Noto Sans CJK SC"/>
              </a:rPr>
              <a:t>请求入口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1920240"/>
            <a:ext cx="132588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67085"/>
                </a:solidFill>
                <a:latin typeface="Noto Sans CJK SC"/>
              </a:rPr>
              <a:t>身份已认证的应用流量</a:t>
            </a:r>
          </a:p>
        </p:txBody>
      </p:sp>
      <p:sp>
        <p:nvSpPr>
          <p:cNvPr id="24" name="Oval 23"/>
          <p:cNvSpPr/>
          <p:nvPr/>
        </p:nvSpPr>
        <p:spPr>
          <a:xfrm>
            <a:off x="1078992" y="2350008"/>
            <a:ext cx="548640" cy="548640"/>
          </a:xfrm>
          <a:prstGeom prst="ellipse">
            <a:avLst/>
          </a:prstGeom>
          <a:solidFill>
            <a:srgbClr val="EEF5FF"/>
          </a:solidFill>
          <a:ln w="12700">
            <a:solidFill>
              <a:srgbClr val="C7D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2345436"/>
            <a:ext cx="548640" cy="5486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Noto Sans CJK SC"/>
              </a:rPr>
              <a:t>5K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2606040"/>
            <a:ext cx="292608" cy="292608"/>
          </a:xfrm>
          <a:prstGeom prst="ellipse">
            <a:avLst/>
          </a:prstGeom>
          <a:solidFill>
            <a:srgbClr val="DC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601468"/>
            <a:ext cx="292608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563EB"/>
                </a:solidFill>
                <a:latin typeface="Noto Sans CJK SC"/>
              </a:rP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1636776" y="2606040"/>
            <a:ext cx="292608" cy="292608"/>
          </a:xfrm>
          <a:prstGeom prst="ellipse">
            <a:avLst/>
          </a:prstGeom>
          <a:solidFill>
            <a:srgbClr val="EA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36776" y="2601468"/>
            <a:ext cx="292608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9D8A"/>
                </a:solidFill>
                <a:latin typeface="Noto Sans CJK SC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3026664"/>
            <a:ext cx="1389888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033"/>
                </a:solidFill>
                <a:latin typeface="Noto Sans CJK SC"/>
              </a:rPr>
              <a:t>5,000 注册用户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3310128"/>
            <a:ext cx="1389888" cy="4023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67085"/>
                </a:solidFill>
                <a:latin typeface="Noto Sans CJK SC"/>
              </a:rPr>
              <a:t>只为活跃请求分配容量
不预创建 microVM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977639"/>
            <a:ext cx="1353312" cy="384048"/>
          </a:xfrm>
          <a:prstGeom prst="roundRect">
            <a:avLst/>
          </a:prstGeom>
          <a:solidFill>
            <a:srgbClr val="EEF5FF"/>
          </a:solidFill>
          <a:ln w="10160">
            <a:solidFill>
              <a:srgbClr val="C7D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" y="3977639"/>
            <a:ext cx="128016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63EB"/>
                </a:solidFill>
                <a:latin typeface="Noto Sans CJK SC"/>
              </a:rPr>
              <a:t>ALB / API 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4334256"/>
            <a:ext cx="1316736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Noto Sans Mono CJK SC"/>
              </a:rPr>
              <a:t>requestId
runtimeUserId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28316" y="1467612"/>
            <a:ext cx="2907792" cy="340156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496312" y="1417320"/>
            <a:ext cx="2907792" cy="3401568"/>
          </a:xfrm>
          <a:prstGeom prst="roundRect">
            <a:avLst/>
          </a:prstGeom>
          <a:solidFill>
            <a:srgbClr val="F6F9FF"/>
          </a:solidFill>
          <a:ln w="15240">
            <a:solidFill>
              <a:srgbClr val="B7C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14600" y="1435608"/>
            <a:ext cx="2871216" cy="50292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660904" y="1591056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60904" y="1586484"/>
            <a:ext cx="384048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36391" y="1563624"/>
            <a:ext cx="2029968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72033"/>
                </a:solidFill>
                <a:latin typeface="Noto Sans CJK SC"/>
              </a:rPr>
              <a:t>Stateless Session Router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6391" y="1874519"/>
            <a:ext cx="2029968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Noto Sans CJK SC"/>
              </a:rPr>
              <a:t>身份、并发与执行位置解耦</a:t>
            </a:r>
          </a:p>
        </p:txBody>
      </p:sp>
      <p:sp>
        <p:nvSpPr>
          <p:cNvPr id="42" name="Oval 41"/>
          <p:cNvSpPr/>
          <p:nvPr/>
        </p:nvSpPr>
        <p:spPr>
          <a:xfrm>
            <a:off x="2679192" y="2290572"/>
            <a:ext cx="246888" cy="2468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9192" y="2286000"/>
            <a:ext cx="24688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26664" y="2258568"/>
            <a:ext cx="80467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033"/>
                </a:solidFill>
                <a:latin typeface="Noto Sans CJK SC"/>
              </a:rPr>
              <a:t>Affinity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03904" y="2258568"/>
            <a:ext cx="135331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67085"/>
                </a:solidFill>
                <a:latin typeface="Noto Sans CJK SC"/>
              </a:rPr>
              <a:t>userId → sessionId 租约</a:t>
            </a:r>
          </a:p>
        </p:txBody>
      </p:sp>
      <p:sp>
        <p:nvSpPr>
          <p:cNvPr id="46" name="Oval 45"/>
          <p:cNvSpPr/>
          <p:nvPr/>
        </p:nvSpPr>
        <p:spPr>
          <a:xfrm>
            <a:off x="2679192" y="2683764"/>
            <a:ext cx="246888" cy="246888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79192" y="2679192"/>
            <a:ext cx="24688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26664" y="2651760"/>
            <a:ext cx="80467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033"/>
                </a:solidFill>
                <a:latin typeface="Noto Sans CJK SC"/>
              </a:rPr>
              <a:t>Acquire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03904" y="2651760"/>
            <a:ext cx="135331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67085"/>
                </a:solidFill>
                <a:latin typeface="Noto Sans CJK SC"/>
              </a:rPr>
              <a:t>条件写入 inflight &lt; 10</a:t>
            </a:r>
          </a:p>
        </p:txBody>
      </p:sp>
      <p:sp>
        <p:nvSpPr>
          <p:cNvPr id="50" name="Oval 49"/>
          <p:cNvSpPr/>
          <p:nvPr/>
        </p:nvSpPr>
        <p:spPr>
          <a:xfrm>
            <a:off x="2679192" y="3076956"/>
            <a:ext cx="246888" cy="2468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79192" y="3072384"/>
            <a:ext cx="24688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26664" y="3044952"/>
            <a:ext cx="80467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033"/>
                </a:solidFill>
                <a:latin typeface="Noto Sans CJK SC"/>
              </a:rPr>
              <a:t>幂等控制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03904" y="3044952"/>
            <a:ext cx="135331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67085"/>
                </a:solidFill>
                <a:latin typeface="Noto Sans CJK SC"/>
              </a:rPr>
              <a:t>同用户串行 · 防重放</a:t>
            </a:r>
          </a:p>
        </p:txBody>
      </p:sp>
      <p:sp>
        <p:nvSpPr>
          <p:cNvPr id="54" name="Oval 53"/>
          <p:cNvSpPr/>
          <p:nvPr/>
        </p:nvSpPr>
        <p:spPr>
          <a:xfrm>
            <a:off x="2679192" y="3470148"/>
            <a:ext cx="246888" cy="2468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79192" y="3465576"/>
            <a:ext cx="246888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26664" y="3438144"/>
            <a:ext cx="80467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2033"/>
                </a:solidFill>
                <a:latin typeface="Noto Sans CJK SC"/>
              </a:rPr>
              <a:t>排队背压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03904" y="3438144"/>
            <a:ext cx="1353312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67085"/>
                </a:solidFill>
                <a:latin typeface="Noto Sans CJK SC"/>
              </a:rPr>
              <a:t>短队列优先，再扩容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79192" y="3941063"/>
            <a:ext cx="25420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an 58"/>
          <p:cNvSpPr/>
          <p:nvPr/>
        </p:nvSpPr>
        <p:spPr>
          <a:xfrm>
            <a:off x="2807208" y="4069080"/>
            <a:ext cx="320040" cy="320040"/>
          </a:xfrm>
          <a:prstGeom prst="ca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27832" y="3977639"/>
            <a:ext cx="1783080" cy="2468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033"/>
                </a:solidFill>
                <a:latin typeface="Noto Sans CJK SC"/>
              </a:rPr>
              <a:t>DynamoDB 原子调度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27832" y="4233672"/>
            <a:ext cx="1783080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Mono CJK SC"/>
              </a:rPr>
              <a:t>Affinity · Pool · Lease · Request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737860" y="1467612"/>
            <a:ext cx="5980176" cy="340156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705856" y="1417320"/>
            <a:ext cx="5980176" cy="3401568"/>
          </a:xfrm>
          <a:prstGeom prst="roundRect">
            <a:avLst/>
          </a:prstGeom>
          <a:solidFill>
            <a:srgbClr val="EEF5FF"/>
          </a:solidFill>
          <a:ln w="15240">
            <a:solidFill>
              <a:srgbClr val="AEC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24144" y="1435608"/>
            <a:ext cx="59436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07024" y="1572768"/>
            <a:ext cx="3090672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033"/>
                </a:solidFill>
                <a:latin typeface="Noto Sans CJK SC"/>
              </a:rPr>
              <a:t>Shared Runtime Session Pool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46336" y="1572768"/>
            <a:ext cx="1901952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CD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82912" y="1572768"/>
            <a:ext cx="182880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563EB"/>
                </a:solidFill>
                <a:latin typeface="Noto Sans CJK SC"/>
              </a:rPr>
              <a:t>少量 Runtime ARN / 版本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07024" y="1911095"/>
            <a:ext cx="539496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67085"/>
                </a:solidFill>
                <a:latin typeface="Noto Sans CJK SC"/>
              </a:rPr>
              <a:t>1 Runtime ARN / Endpoint  →  N 个 runtimeSessionId  →  N 个 microVM 执行环境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69296" y="2212848"/>
            <a:ext cx="1078992" cy="274320"/>
          </a:xfrm>
          <a:prstGeom prst="roundRect">
            <a:avLst/>
          </a:prstGeom>
          <a:solidFill>
            <a:srgbClr val="EDFAF1"/>
          </a:solidFill>
          <a:ln w="10160">
            <a:solidFill>
              <a:srgbClr val="BDE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05872" y="2212848"/>
            <a:ext cx="1005839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6A34A"/>
                </a:solidFill>
                <a:latin typeface="Noto Sans CJK SC"/>
              </a:rPr>
              <a:t>App cap = 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39028" y="2500884"/>
            <a:ext cx="1627632" cy="1792224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907024" y="2450591"/>
            <a:ext cx="1627632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035040" y="2587751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35040" y="2583179"/>
            <a:ext cx="347472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Noto Sans CJK SC"/>
              </a:rPr>
              <a:t>S1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73952" y="2606039"/>
            <a:ext cx="877824" cy="256032"/>
          </a:xfrm>
          <a:prstGeom prst="round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10528" y="2606039"/>
            <a:ext cx="80467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6A34A"/>
                </a:solidFill>
                <a:latin typeface="Noto Sans CJK SC"/>
              </a:rPr>
              <a:t>ACTIVE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35040" y="3017520"/>
            <a:ext cx="1371600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Mono CJK SC"/>
              </a:rPr>
              <a:t>runtimeSessionId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3264408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033"/>
                </a:solidFill>
                <a:latin typeface="Noto Sans CJK SC"/>
              </a:rPr>
              <a:t>7 / 10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35040" y="3575303"/>
            <a:ext cx="1371600" cy="86868"/>
          </a:xfrm>
          <a:prstGeom prst="round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035040" y="3575303"/>
            <a:ext cx="960119" cy="868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35040" y="3758183"/>
            <a:ext cx="1371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563EB"/>
                </a:solidFill>
                <a:latin typeface="Noto Sans CJK SC"/>
              </a:rPr>
              <a:t>A · B · C · 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3977639"/>
            <a:ext cx="1371600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CJK SC"/>
              </a:rPr>
              <a:t>目标占用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31252" y="2500884"/>
            <a:ext cx="1627632" cy="1792224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699248" y="2450591"/>
            <a:ext cx="1627632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827264" y="2587751"/>
            <a:ext cx="347472" cy="347472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27264" y="2583179"/>
            <a:ext cx="347472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Noto Sans CJK SC"/>
              </a:rPr>
              <a:t>S2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266175" y="2606039"/>
            <a:ext cx="877824" cy="256032"/>
          </a:xfrm>
          <a:prstGeom prst="round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02751" y="2606039"/>
            <a:ext cx="80467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6A34A"/>
                </a:solidFill>
                <a:latin typeface="Noto Sans CJK SC"/>
              </a:rPr>
              <a:t>ACTIVE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27264" y="3017520"/>
            <a:ext cx="1371600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Mono CJK SC"/>
              </a:rPr>
              <a:t>runtimeSessionId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27264" y="3264408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033"/>
                </a:solidFill>
                <a:latin typeface="Noto Sans CJK SC"/>
              </a:rPr>
              <a:t>4 / 10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827264" y="3575303"/>
            <a:ext cx="1371600" cy="86868"/>
          </a:xfrm>
          <a:prstGeom prst="round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827264" y="3575303"/>
            <a:ext cx="548640" cy="86868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27264" y="3758183"/>
            <a:ext cx="1371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F9D8A"/>
                </a:solidFill>
                <a:latin typeface="Noto Sans CJK SC"/>
              </a:rPr>
              <a:t>D · E · F · 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27264" y="3977639"/>
            <a:ext cx="1371600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CJK SC"/>
              </a:rPr>
              <a:t>可接流量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523476" y="2500884"/>
            <a:ext cx="1627632" cy="1792224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491472" y="2450591"/>
            <a:ext cx="1627632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619488" y="2587751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19488" y="2583179"/>
            <a:ext cx="347472" cy="34747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Noto Sans CJK SC"/>
              </a:rPr>
              <a:t>SN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58399" y="2606039"/>
            <a:ext cx="877824" cy="256032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094975" y="2606039"/>
            <a:ext cx="804672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7C3AED"/>
                </a:solidFill>
                <a:latin typeface="Noto Sans CJK SC"/>
              </a:rPr>
              <a:t>WARM / COLD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19488" y="3017520"/>
            <a:ext cx="1371600" cy="2103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Mono CJK SC"/>
              </a:rPr>
              <a:t>runtimeSessionId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19488" y="3264408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033"/>
                </a:solidFill>
                <a:latin typeface="Noto Sans CJK SC"/>
              </a:rPr>
              <a:t>按需启动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619488" y="3575303"/>
            <a:ext cx="1371600" cy="86868"/>
          </a:xfrm>
          <a:prstGeom prst="roundRect">
            <a:avLst/>
          </a:prstGeom>
          <a:solidFill>
            <a:srgbClr val="E7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19488" y="3758183"/>
            <a:ext cx="137160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7C3AED"/>
                </a:solidFill>
                <a:latin typeface="Noto Sans CJK SC"/>
              </a:rPr>
              <a:t>弹性容量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19488" y="3977639"/>
            <a:ext cx="1371600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CJK SC"/>
              </a:rPr>
              <a:t>扩缩单元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907024" y="4361688"/>
            <a:ext cx="5577840" cy="292608"/>
          </a:xfrm>
          <a:prstGeom prst="roundRect">
            <a:avLst/>
          </a:prstGeom>
          <a:solidFill>
            <a:srgbClr val="FF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025896" y="4361688"/>
            <a:ext cx="5340096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A15C00"/>
                </a:solidFill>
                <a:latin typeface="Noto Sans CJK SC"/>
              </a:rPr>
              <a:t>亲和绑定可 &gt;10 人；执行请求 ≤10  ｜  仅同一信任域共享，不同 tenant 分池</a:t>
            </a:r>
          </a:p>
        </p:txBody>
      </p:sp>
      <p:sp>
        <p:nvSpPr>
          <p:cNvPr id="108" name="Right Arrow 107"/>
          <p:cNvSpPr/>
          <p:nvPr/>
        </p:nvSpPr>
        <p:spPr>
          <a:xfrm>
            <a:off x="2212848" y="2761488"/>
            <a:ext cx="274320" cy="31089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157984" y="2432304"/>
            <a:ext cx="402336" cy="21945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2563EB"/>
                </a:solidFill>
                <a:latin typeface="Noto Sans CJK SC"/>
              </a:rPr>
              <a:t>请求</a:t>
            </a:r>
          </a:p>
        </p:txBody>
      </p:sp>
      <p:sp>
        <p:nvSpPr>
          <p:cNvPr id="110" name="Right Arrow 109"/>
          <p:cNvSpPr/>
          <p:nvPr/>
        </p:nvSpPr>
        <p:spPr>
          <a:xfrm>
            <a:off x="5404104" y="2761488"/>
            <a:ext cx="292608" cy="310896"/>
          </a:xfrm>
          <a:prstGeom prst="rightArrow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30952" y="2331720"/>
            <a:ext cx="438912" cy="3931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9D8A"/>
                </a:solidFill>
                <a:latin typeface="Noto Sans CJK SC"/>
              </a:rPr>
              <a:t>CAS
路由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34924" y="5097779"/>
            <a:ext cx="3529584" cy="1170432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502920" y="5047488"/>
            <a:ext cx="3529584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67512" y="5248655"/>
            <a:ext cx="438912" cy="438912"/>
          </a:xfrm>
          <a:prstGeom prst="ellipse">
            <a:avLst/>
          </a:prstGeom>
          <a:solidFill>
            <a:srgbClr val="EA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7512" y="5244083"/>
            <a:ext cx="438912" cy="4389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9D8A"/>
                </a:solidFill>
                <a:latin typeface="Noto Sans CJK SC"/>
              </a:rPr>
              <a:t>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34440" y="5202936"/>
            <a:ext cx="2615184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72033"/>
                </a:solidFill>
                <a:latin typeface="Noto Sans CJK SC"/>
              </a:rPr>
              <a:t>状态外部化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34440" y="5504688"/>
            <a:ext cx="2615184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9D8A"/>
                </a:solidFill>
                <a:latin typeface="Noto Sans CJK SC"/>
              </a:rPr>
              <a:t>AgentCore Memory · DynamoDB · S3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34440" y="5779007"/>
            <a:ext cx="2615184" cy="2651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667085"/>
                </a:solidFill>
                <a:latin typeface="Noto Sans CJK SC"/>
              </a:rPr>
              <a:t>microVM 换代后按 generation 重建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256532" y="5097779"/>
            <a:ext cx="3703320" cy="1170432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4224528" y="5047488"/>
            <a:ext cx="37033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389120" y="5248655"/>
            <a:ext cx="438912" cy="438912"/>
          </a:xfrm>
          <a:prstGeom prst="ellipse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389120" y="5244083"/>
            <a:ext cx="438912" cy="4389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563EB"/>
                </a:solidFill>
                <a:latin typeface="Noto Sans CJK SC"/>
              </a:rPr>
              <a:t>↻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56048" y="5202936"/>
            <a:ext cx="278892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72033"/>
                </a:solidFill>
                <a:latin typeface="Noto Sans CJK SC"/>
              </a:rPr>
              <a:t>生命周期与弹性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56048" y="5504688"/>
            <a:ext cx="278892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63EB"/>
                </a:solidFill>
                <a:latin typeface="Noto Sans CJK SC"/>
              </a:rPr>
              <a:t>WARMING → ACTIVE → DRAINING → COLD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56048" y="5779007"/>
            <a:ext cx="2788920" cy="2651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667085"/>
                </a:solidFill>
                <a:latin typeface="Noto Sans CJK SC"/>
              </a:rPr>
              <a:t>高水位 &gt; 7 扩容 · idle=0 主动 stop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151876" y="5097779"/>
            <a:ext cx="3566160" cy="1170432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8119872" y="5047488"/>
            <a:ext cx="35661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284464" y="5248655"/>
            <a:ext cx="438912" cy="438912"/>
          </a:xfrm>
          <a:prstGeom prst="ellipse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284464" y="5244083"/>
            <a:ext cx="438912" cy="4389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C3AED"/>
                </a:solidFill>
                <a:latin typeface="Noto Sans CJK SC"/>
              </a:rPr>
              <a:t>¥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851392" y="5202936"/>
            <a:ext cx="265176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72033"/>
                </a:solidFill>
                <a:latin typeface="Noto Sans CJK SC"/>
              </a:rPr>
              <a:t>成本与可靠性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851392" y="5504688"/>
            <a:ext cx="265176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Noto Sans CJK SC"/>
              </a:rPr>
              <a:t>CPU-seconds · GB-seconds · token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851392" y="5779007"/>
            <a:ext cx="2651760" cy="2651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667085"/>
                </a:solidFill>
                <a:latin typeface="Noto Sans CJK SC"/>
              </a:rPr>
              <a:t>queue p95 · complete event · 成功请求成本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30352" y="6382512"/>
            <a:ext cx="11082528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67085"/>
                </a:solidFill>
                <a:latin typeface="Noto Sans CJK SC"/>
              </a:rPr>
              <a:t>*容量示例：5,000 注册用户、5% 峰值活跃、每 5 分钟 1 次请求、平均任务 60 秒 → A≈50 → ceil(50/7)=8 active sessions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30352" y="6601968"/>
            <a:ext cx="11082528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67085"/>
                </a:solidFill>
                <a:latin typeface="Noto Sans CJK SC"/>
              </a:rPr>
              <a:t>实测依据：长程 1–32 并发成功；40 并发缺少 complete SSE。生产基线采用 target 6–7 / hard cap 10。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Runtime microVM 用户亲和映射池架构</dc:title>
  <dc:subject>少量 Runtime ARN、多 runtimeSessionId、DynamoDB 原子调度与按活跃并发扩缩</dc:subject>
  <dc:creator>AgentCore Demo</dc:creator>
  <cp:keywords>AgentCore, microVM, runtimeSessionId, DynamoDB, session pool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